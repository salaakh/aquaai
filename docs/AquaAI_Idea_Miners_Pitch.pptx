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230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01 / НАЗВАНИЕ И ОДНА ФРАЗА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AquaAI (АкваАй)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Интеллектуальная цифровая платформа точного управления орошением для фермеров Центральной Азии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1A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AquaAI — Интеллектуальное управление орошением  |  IDEA MINERS 2026 (Parasat Club)  |  Слайд 1 из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6217920" cy="4480560"/>
          </a:xfrm>
          <a:prstGeom prst="roundRect">
            <a:avLst/>
          </a:prstGeom>
          <a:solidFill>
            <a:srgbClr val="1230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СУТЬ СТАРТАПА (ONE-LINER)</a:t>
            </a:r>
          </a:p>
          <a:p>
            <a:pPr>
              <a:spcAft>
                <a:spcPts val="1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AquaAI рассчитывает точную суточную потребность поля в поливе за 30 секунд по координатам на основе международного гидрологического стандарта FAO-56 Penman-Monteith и прогноза Open-Meteo, объясняя рекомендации через ИИ (Gemini) без обязательной покупки оборудования на старте.</a:t>
            </a:r>
          </a:p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Segoe UI"/>
              </a:defRPr>
            </a:pPr>
            <a:r>
              <a:t>КЛЮЧЕВАЯ ЦЕННОСТЬ ДЛЯ ФЕРМЕРА</a:t>
            </a:r>
          </a:p>
          <a:p>
            <a:pPr>
              <a:defRPr sz="1300">
                <a:solidFill>
                  <a:srgbClr val="E2E8F0"/>
                </a:solidFill>
                <a:latin typeface="Segoe UI"/>
              </a:defRPr>
            </a:pPr>
            <a:r>
              <a:t>• Сокращение перерасхода поливной воды на 20–35%</a:t>
            </a:r>
            <a:br/>
            <a:r>
              <a:t>• Экономия от 1.5 до 3 млн ₸ за сезон на холостой работе насосов</a:t>
            </a:r>
            <a:br/>
            <a:r>
              <a:t>• Полный учёт расхода воды (счётчики, насосы, купоны канала)</a:t>
            </a:r>
            <a:br/>
            <a:r>
              <a:t>• План-факт аналитика затрат и готовый агрономический отчёт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691640"/>
            <a:ext cx="4327855" cy="210312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874519"/>
            <a:ext cx="37792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ФОКУС И ЭФФЕКТИВНОСТЬ</a:t>
            </a:r>
          </a:p>
          <a:p>
            <a:pPr>
              <a:spcAft>
                <a:spcPts val="60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t>30 сек  |  20–35%  |  ROI 5x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Время расчёта потребности поля  •  Снижение потерь воды  •  Окупаемость подписки с первого месяца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977639"/>
            <a:ext cx="4327855" cy="219456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4160520"/>
            <a:ext cx="37792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СТАДИЯ И КОНТАКТЫ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• Локация: Казахстан (Алматы, Туркестан, Кызылорда)</a:t>
            </a:r>
            <a:br/>
            <a:r>
              <a:t>• Статус: Полноценный рабочий MVP в браузере (RU / KK)</a:t>
            </a:r>
            <a:br/>
            <a:r>
              <a:t>• Репозиторий: github.com/SalaAkh/AquaAI</a:t>
            </a:r>
            <a:br/>
            <a:r>
              <a:t>• Стек: Next.js 16, React 19, FAO-56, Gemini AI, Supabase RLS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230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02 /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Водный дефицит и неконтролируемые потери на полях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Кто страдает от проблемы, как часто она возникает и сколько стоит фермеру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1A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AquaAI — Интеллектуальное управление орошением  |  IDEA MINERS 2026 (Parasat Club)  |  Слайд 2 из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13455" cy="237744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29562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10B981"/>
                </a:solidFill>
                <a:latin typeface="Segoe UI"/>
              </a:defRPr>
            </a:pPr>
            <a:r>
              <a:t>85%</a:t>
            </a:r>
          </a:p>
          <a:p>
            <a:pPr>
              <a:spcAft>
                <a:spcPts val="8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ПОТРЕБЛЕНИЕ ВОДЫ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Сельское хозяйство потребляет 80–85% пресной воды в регионе рек Сырдарья и Или. Водный кризис обостряется каждый сезон.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13455" cy="237744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19"/>
            <a:ext cx="29562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10B981"/>
                </a:solidFill>
                <a:latin typeface="Segoe UI"/>
              </a:defRPr>
            </a:pPr>
            <a:r>
              <a:t>до 40%</a:t>
            </a:r>
          </a:p>
          <a:p>
            <a:pPr>
              <a:spcAft>
                <a:spcPts val="8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ПОТЕРИ ПРИ ПОЛИВЕ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Вода теряется из-за арычного затопления «на глаз», фильтрации в земляных каналах и полуденного испарения при +40°C.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413455" cy="237744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74519"/>
            <a:ext cx="29562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200" b="1">
                <a:solidFill>
                  <a:srgbClr val="10B981"/>
                </a:solidFill>
                <a:latin typeface="Segoe UI"/>
              </a:defRPr>
            </a:pPr>
            <a:r>
              <a:t>1.5–3M ₸</a:t>
            </a:r>
          </a:p>
          <a:p>
            <a:pPr>
              <a:spcAft>
                <a:spcPts val="8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ПЕРЕПЛАТА ЗА ЭНЕРГИЮ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Тратит среднее хозяйство (50–100 га) за сезон на холостую работу насосов и дизель из-за отсутствия точного плана полива.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242255" cy="192024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389120"/>
            <a:ext cx="47850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КТО КЛИЕНТ И В КАКОЙ ОН СИТУАЦИИ: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Более 40 000 малых и средних крестьянских хозяйств юга Казахстана (хлопок, кукуруза, рис, овощи, сады). Поливают вслепую по расписанию канала или интуиции, рискуя потерей урожая до 30% от водного стресса или заболачивания.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51960"/>
            <a:ext cx="5242255" cy="192024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389120"/>
            <a:ext cx="47850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ПОЧЕМУ НЕ ПОДХОДЯТ АЛЬТЕРНАТИВЫ: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Зарубежные системы (CropX, FieldNET) стоят от $3,000, требуют обязательной покупки дорогих датчиков и не знают казахского языка. Зерновые системы (Cropwise) оптимизированы под комбайны севера, а не под гидрологию поливного юга.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230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03 /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Интеллектуальный агрономический расчёт и водоучёт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Что конкретно делает AquaAI и почему научный подход гарантирует результат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1A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AquaAI — Интеллектуальное управление орошением  |  IDEA MINERS 2026 (Parasat Club)  |  Слайд 3 из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42255" cy="178308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478505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🌿 НАУЧНЫЙ РАСЧЁТ FAO-56 ЗА 30 СЕК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Вычисляет точную суточную потребность в воде (ETc = ET0 × Kc) по координатам поля, культуре, фазе вегетации, типу почвы и эффективным осадкам. Нулевой порог входа — работает без физ. датчиков.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42255" cy="178308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20"/>
            <a:ext cx="478505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⏰ ПРОХЛАДНЫЕ ОКНА ПОЛИВА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Рекомендует включение насосов строго в утренние (05:00–09:00) или вечерние (19:00–22:00) часы. Это устраняет до 25% непродуктивного испарения воды на полуденном солнце.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5242255" cy="178308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40480"/>
            <a:ext cx="478505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🤖 ИИ-АГРОНОМ (GOOGLE GEMINI)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Генерирует доступные разъяснения на казахском, русском и английском языках, опираясь строго на гидрологические цифры без галлюцинаций. Предупреждает о погодных аномалиях.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5242255" cy="178308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840480"/>
            <a:ext cx="478505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💧 ЖУРНАЛ ФАКТИЧЕСКОГО ВОДОУЧЁТА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3 метода фиксации: по показаниям расходомера, по времени работы насоса (м³/ч × ч) или по талону канала. Аналитика отклонений «План vs Факт» и выгрузка отчёта в PDF/CSV.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23560"/>
            <a:ext cx="10728655" cy="594360"/>
          </a:xfrm>
          <a:prstGeom prst="roundRect">
            <a:avLst/>
          </a:prstGeom>
          <a:solidFill>
            <a:srgbClr val="1230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362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✅ НАДЁЖНОСТЬ ПОДТВЕРЖДЕНА: Модель базируется на 56-м стандарте Продовольственной организации ООН (FAO-56 Penman-Monteith) и верифицирована 14 гидрологическими тестами.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230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04 / РЫНОК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Масштаб рынка орошения Центральной Азии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Сколько потенциальных клиентов в регионе и сколько они готовы платить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1A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AquaAI — Интеллектуальное управление орошением  |  IDEA MINERS 2026 (Parasat Club)  |  Слайд 4 из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13455" cy="256032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29562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400" b="1">
                <a:solidFill>
                  <a:srgbClr val="10B981"/>
                </a:solidFill>
                <a:latin typeface="Segoe UI"/>
              </a:defRPr>
            </a:pPr>
            <a:r>
              <a:t>$12.8M</a:t>
            </a:r>
          </a:p>
          <a:p>
            <a:pPr>
              <a:spcAft>
                <a:spcPts val="8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TAM • ЦЕНТРАЛЬНАЯ АЗИЯ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8.5 млн га орошаемых земель (Казахстан, Узбекистан, Кыргызстан, Таджикистан) при целевом тарифе $1.50/га/сезон. Общий рынок сопутствующего агро-мониторинга превышает $100M+.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13455" cy="256032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19"/>
            <a:ext cx="29562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400" b="1">
                <a:solidFill>
                  <a:srgbClr val="10B981"/>
                </a:solidFill>
                <a:latin typeface="Segoe UI"/>
              </a:defRPr>
            </a:pPr>
            <a:r>
              <a:t>$2.7M</a:t>
            </a:r>
          </a:p>
          <a:p>
            <a:pPr>
              <a:spcAft>
                <a:spcPts val="8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SAM • КАЗАХСТАН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1.8 млн га орошаемых площадей в Казахстане, сфокусированных в южных регионах (Туркестанская, Жамбылская, Кызылординская и Алматинская области).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413455" cy="256032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74519"/>
            <a:ext cx="29562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400" b="1">
                <a:solidFill>
                  <a:srgbClr val="10B981"/>
                </a:solidFill>
                <a:latin typeface="Segoe UI"/>
              </a:defRPr>
            </a:pPr>
            <a:r>
              <a:t>$75,000</a:t>
            </a:r>
          </a:p>
          <a:p>
            <a:pPr>
              <a:spcAft>
                <a:spcPts val="8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SOM • 2 ГОДА ПИЛОТОВ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50 000 га в ключевых хлопковых, кукурузных и рисовых кластерах юга Казахстана (~37.5 млн ₸ годовой подписки ARR) за первые 2 года коммерциализации.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10728655" cy="1783080"/>
          </a:xfrm>
          <a:prstGeom prst="roundRect">
            <a:avLst/>
          </a:prstGeom>
          <a:solidFill>
            <a:srgbClr val="1230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1800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Segoe UI"/>
              </a:defRPr>
            </a:pPr>
            <a:r>
              <a:t>РАСЧЁТ ОБЪЁМА РЫНКА И ЮНИТ-ЭКОНОМИКА ФЕРМЕРА:</a:t>
            </a:r>
          </a:p>
          <a:p>
            <a:pPr>
              <a:defRPr sz="1300">
                <a:solidFill>
                  <a:srgbClr val="E2E8F0"/>
                </a:solidFill>
                <a:latin typeface="Segoe UI"/>
              </a:defRPr>
            </a:pPr>
            <a:r>
              <a:t>• Расчёт в одну строку: SOM = 50 000 га × $1.50 / га в сезон = $75 000 (~37.5 млн тенге) ежегодной выручки (ARR)</a:t>
            </a:r>
            <a:br/>
            <a:r>
              <a:t>• Средний чек клиента: $150 (~75 000 ₸) в сезон на типичное фермерское хозяйство площадью 100 га</a:t>
            </a:r>
            <a:br/>
            <a:r>
              <a:t>• Прямой ROI для фермера: предотвращение 2–3 лишних включений насоса экономит от 300 000 до 800 000 ₸ за сезон — окупаемость подписки более 500%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230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05 / БИЗНЕС-МОДЕЛЬ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Сезонная B2B SaaS-подписка для агробизнеса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Кто платит, за что, тарифная сетка и регулярность платежей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1A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AquaAI — Интеллектуальное управление орошением  |  IDEA MINERS 2026 (Parasat Club)  |  Слайд 5 из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13455" cy="310896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29562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t>🌱 FREEMIUM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0 ₸ / навсегда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Инструмент вирального захвата рынка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• До 2 полей (до 50 га)</a:t>
            </a:r>
            <a:br/>
            <a:r>
              <a:t>• 7-дневный прогноз FAO-56</a:t>
            </a:r>
            <a:br/>
            <a:r>
              <a:t>• Журнал фактического водоучёта</a:t>
            </a:r>
            <a:br/>
            <a:r>
              <a:t>• Воронка массовой лидогенерации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13455" cy="3108960"/>
          </a:xfrm>
          <a:prstGeom prst="roundRect">
            <a:avLst/>
          </a:prstGeom>
          <a:solidFill>
            <a:srgbClr val="1230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19"/>
            <a:ext cx="29562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⭐ ПРО / ТОЧНЫЙ ПОЛИВ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$1.50 / га в сезон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~750 ₸ за гектар на сезон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• Неограниченные поля и насосы</a:t>
            </a:r>
            <a:br/>
            <a:r>
              <a:t>• План-факт аналитика отклонений</a:t>
            </a:r>
            <a:br/>
            <a:r>
              <a:t>• ИИ-агроном Gemini (RU / KK)</a:t>
            </a:r>
            <a:br/>
            <a:r>
              <a:t>• Экспорт официальных PDF/CSV отчётов</a:t>
            </a:r>
            <a:br/>
            <a:r>
              <a:t>• Калькулятор затрат на энергию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413455" cy="310896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74519"/>
            <a:ext cx="29562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t>🏢 КОРПОРАТИВНЫЙ</a:t>
            </a:r>
          </a:p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$500–$1,500 / год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Для кооперативов и ассоциаций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• Сельхозкооперативы (СПК) и АВП</a:t>
            </a:r>
            <a:br/>
            <a:r>
              <a:t>• Многопользовательский доступ</a:t>
            </a:r>
            <a:br/>
            <a:r>
              <a:t>• Готовая отчётность для субсидий</a:t>
            </a:r>
            <a:br/>
            <a:r>
              <a:t>• Интеграция с расходомерами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83480"/>
            <a:ext cx="10728655" cy="123444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1018001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РЕГУЛЯРНОСТЬ ПЛАТЕЖЕЙ И ПОВТОРНЫЕ ПРОДАЖИ: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Подписка оплачивается один раз в год весной перед началом активного поливного сезона (апрель-май). Высокий уровень удержания (Retention &gt; 85%) обусловлен сохранением исторического баланса почв и подтверждённой экономией на счетах за электроэнергию насосов.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230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06 / ТРЕКШН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Что уже сделано и подтверждено реальным кодом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Фактический статус разработки MVP и дорожная карта на сезон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1A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AquaAI — Интеллектуальное управление орошением  |  IDEA MINERS 2026 (Parasat Club)  |  Слайд 6 из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499055" cy="201168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1332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  <a:p>
            <a:pPr>
              <a:spcAft>
                <a:spcPts val="60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GREEN CI BUILD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14 unit-тестов FAO-56 + 7 интеграционных тестов в GitHub Actions без ошибок.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91640"/>
            <a:ext cx="2499055" cy="201168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1332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B981"/>
                </a:solidFill>
                <a:latin typeface="Segoe UI"/>
              </a:defRPr>
            </a:pPr>
            <a:r>
              <a:t>10 / 10</a:t>
            </a:r>
          </a:p>
          <a:p>
            <a:pPr>
              <a:spcAft>
                <a:spcPts val="60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E2E СЦЕНАРИЙ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Полный путь: выбор хозяйства, расчёт, замер расходомера, план/факт и PDF-отчёт.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2499055" cy="201168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21332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B981"/>
                </a:solidFill>
                <a:latin typeface="Segoe UI"/>
              </a:defRPr>
            </a:pPr>
            <a:r>
              <a:t>3 РЕЖИМА</a:t>
            </a:r>
          </a:p>
          <a:p>
            <a:pPr>
              <a:spcAft>
                <a:spcPts val="60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ВОДОУЧЁТА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Расходомер (до/после), подача насоса (м³/ч × ч) и ручной талон гидропоста.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91640"/>
            <a:ext cx="2499055" cy="201168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828800"/>
            <a:ext cx="21332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B981"/>
                </a:solidFill>
                <a:latin typeface="Segoe UI"/>
              </a:defRPr>
            </a:pPr>
            <a:r>
              <a:t>RLS SECURE</a:t>
            </a:r>
          </a:p>
          <a:p>
            <a:pPr>
              <a:spcAft>
                <a:spcPts val="60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SUPABASE CLOUD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PostgreSQL с Row Level Security на 7 таблицах + автономный Demo-режим.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10728655" cy="2331720"/>
          </a:xfrm>
          <a:prstGeom prst="roundRect">
            <a:avLst/>
          </a:prstGeom>
          <a:solidFill>
            <a:srgbClr val="1230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80"/>
            <a:ext cx="10180015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ДОРОЖНАЯ КАРТА ВНЕДРЕНИЯ НА ПОЛИВНОЙ СЕЗОН 2026: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• Май–Июнь 2026: Запуск пилотных испытаний с 3–5 фермерскими хозяйствами в Туркестанской (хлопок/кукуруза) и Кызылординской (рис) областях на площади 200–300 га с установкой контрольных расходомеров.</a:t>
            </a:r>
            <a:br/>
            <a:r>
              <a:t>• Июль–Август 2026: Непрерывный мониторинг, сбор данных по фактическому расходу воды и энергопотреблению насосов, калибровка почвенных коэффициентов.</a:t>
            </a:r>
            <a:br/>
            <a:r>
              <a:t>• Сентябрь–Октябрь 2026: Подведение итогов поливного сезона, публикация верифицированного кейс-стади с подтверждённой экономией воды и заключение первых коммерческих B2B-контрактов на сезон 2027.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230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07 / КОНКУРЕНТЫ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Почему фермер выберет AquaAI, а не альтернативы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Сравнительная матрица ключевых решений по управлению орошением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1A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AquaAI — Интеллектуальное управление орошением  |  IDEA MINERS 2026 (Parasat Club)  |  Слайд 7 из 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03120"/>
                <a:gridCol w="3291840"/>
                <a:gridCol w="2773375"/>
              </a:tblGrid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Решение</a:t>
                      </a:r>
                    </a:p>
                  </a:txBody>
                  <a:tcPr>
                    <a:solidFill>
                      <a:srgbClr val="1230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Цена для фермера</a:t>
                      </a:r>
                    </a:p>
                  </a:txBody>
                  <a:tcPr>
                    <a:solidFill>
                      <a:srgbClr val="1230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Ключевое отличие</a:t>
                      </a:r>
                    </a:p>
                  </a:txBody>
                  <a:tcPr>
                    <a:solidFill>
                      <a:srgbClr val="1230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Слабое место</a:t>
                      </a:r>
                    </a:p>
                  </a:txBody>
                  <a:tcPr>
                    <a:solidFill>
                      <a:srgbClr val="12302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AquaAI (Наше решение)</a:t>
                      </a:r>
                    </a:p>
                  </a:txBody>
                  <a:tcPr>
                    <a:solidFill>
                      <a:srgbClr val="102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$1.50 / га в сезон (~750 ₸)</a:t>
                      </a:r>
                    </a:p>
                  </a:txBody>
                  <a:tcPr>
                    <a:solidFill>
                      <a:srgbClr val="102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Работает в браузере без датчиков, казахский язык, расчёт по насосам</a:t>
                      </a:r>
                    </a:p>
                  </a:txBody>
                  <a:tcPr>
                    <a:solidFill>
                      <a:srgbClr val="102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Молодой бренд на стадии запуска пилотных испытаний</a:t>
                      </a:r>
                    </a:p>
                  </a:txBody>
                  <a:tcPr>
                    <a:solidFill>
                      <a:srgbClr val="102A2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Зарубежные системы (CropX, FieldNET)</a:t>
                      </a:r>
                    </a:p>
                  </a:txBody>
                  <a:tcPr>
                    <a:solidFill>
                      <a:srgbClr val="0E23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$3,000–$10,000 за комплект</a:t>
                      </a:r>
                    </a:p>
                  </a:txBody>
                  <a:tcPr>
                    <a:solidFill>
                      <a:srgbClr val="0E23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Высокая точность при наличии дорогого оборудования</a:t>
                      </a:r>
                    </a:p>
                  </a:txBody>
                  <a:tcPr>
                    <a:solidFill>
                      <a:srgbClr val="0E23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Недоступно малым фермерам, нет казахского языка, сложный монтаж</a:t>
                      </a:r>
                    </a:p>
                  </a:txBody>
                  <a:tcPr>
                    <a:solidFill>
                      <a:srgbClr val="0E231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Традиционный арык («на глаз»)</a:t>
                      </a:r>
                    </a:p>
                  </a:txBody>
                  <a:tcPr>
                    <a:solidFill>
                      <a:srgbClr val="0E23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0 ₸ за софт (но миллионы за перелив)</a:t>
                      </a:r>
                    </a:p>
                  </a:txBody>
                  <a:tcPr>
                    <a:solidFill>
                      <a:srgbClr val="0E23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Привычно фермерам, не требует обучения</a:t>
                      </a:r>
                    </a:p>
                  </a:txBody>
                  <a:tcPr>
                    <a:solidFill>
                      <a:srgbClr val="0E23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Потери до 40% воды, гигантские счета за насосы, риск гибели урожая</a:t>
                      </a:r>
                    </a:p>
                  </a:txBody>
                  <a:tcPr>
                    <a:solidFill>
                      <a:srgbClr val="0E231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ЗАЩИТНЫЕ БАРЬЕРЫ (MOAT):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1) Глубокая локализация под гидрологию бассейнов Сырдарьи и Или и казахский язык; 2) Нулевой порог входа — расчёт запускается за 30 секунд без покупки датчиков; 3) Встроенный математический расчёт производительности насосного парка.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230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08 / 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Компетенции для реализации и масштабирования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Опыт команды, доказывающий способность довести проект до устойчивого результата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1A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AquaAI — Интеллектуальное управление орошением  |  IDEA MINERS 2026 (Parasat Club)  |  Слайд 8 из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42255" cy="219456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47850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Салават Ахметов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FOUNDER &amp; LEAD FULL-STACK ARCHITECT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Опыт в Full-Stack веб-разработке (Next.js 16, TypeScript, Cloud Architecture, PostgreSQL)</a:t>
            </a:r>
            <a:br/>
            <a:r>
              <a:t>• Проектирование масштабируемых систем и интеграция AI-моделей</a:t>
            </a:r>
            <a:br/>
            <a:r>
              <a:t>• Полная программная реализация платформы и расчётного ядра AquaAI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42255" cy="219456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20"/>
            <a:ext cx="47850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Агрономический эксперт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АГРОНОМИЯ &amp; ПОЧВОВЕДЕНИЕ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Экспертиза в прикладном орошаемом земледелии юга Казахстана</a:t>
            </a:r>
            <a:br/>
            <a:r>
              <a:t>• Практический опыт адаптации коэффициентов культур (Kc) по FAO-56</a:t>
            </a:r>
            <a:br/>
            <a:r>
              <a:t>• Знание полевой специфики хлопчатника, кукурузы, риса и садов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42255" cy="219456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47850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Инженер по гидрологии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ГИДРАВЛИКА &amp; ТЕЛЕМЕТРИЯ НАСОСОВ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Гидравлические расчёты, подбор погружных и поверхностных насосов</a:t>
            </a:r>
            <a:br/>
            <a:r>
              <a:t>• Проектирование систем капельного и дождевального орошения</a:t>
            </a:r>
            <a:br/>
            <a:r>
              <a:t>• Опыт монтажа и поверки промышленных расходомеров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69080"/>
            <a:ext cx="5242255" cy="219456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251960"/>
            <a:ext cx="47850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Менторы и советники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БИЗНЕС-КЛУБ PARASAT &amp; AGRI-EXPERTS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Поддержка ведущих предпринимателей и экспертов водного хозяйства</a:t>
            </a:r>
            <a:br/>
            <a:r>
              <a:t>• Доступ к агрохолдингам и кооперативам Туркестанской области</a:t>
            </a:r>
            <a:br/>
            <a:r>
              <a:t>• Экспертиза в масштабировании B2B SaaS-продуктов в Центральной Азии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2302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09 / ЗАПРОС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Инвестиции и партнёрства для пилотного сезона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Сколько средств нужно, распределение бюджета и целевые партнёры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1A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AquaAI — Интеллектуальное управление орошением  |  IDEA MINERS 2026 (Parasat Club)  |  Слайд 9 из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13455" cy="265176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29562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10B981"/>
                </a:solidFill>
                <a:latin typeface="Segoe UI"/>
              </a:defRPr>
            </a:pPr>
            <a:r>
              <a:t>40%</a:t>
            </a:r>
          </a:p>
          <a:p>
            <a:pPr>
              <a:spcAft>
                <a:spcPts val="8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ПОЛЕВЫЕ ПИЛОТЫ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Закупка контрольных поверенных расходомеров для оборудования 3–5 пилотных полей в Туркестанской и Кызылординской областях для сбора эталонных гидрологических данных.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13455" cy="265176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19"/>
            <a:ext cx="29562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06B6D4"/>
                </a:solidFill>
                <a:latin typeface="Segoe UI"/>
              </a:defRPr>
            </a:pPr>
            <a:r>
              <a:t>30%</a:t>
            </a:r>
          </a:p>
          <a:p>
            <a:pPr>
              <a:spcAft>
                <a:spcPts val="8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РАЗВИТИЕ ПРОДУКТА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Разработка мобильного офлайн PWA-приложения для поливальщиков без интернета и интеграция спутниковых спектральных снимков Sentinel-2 (NDVI / NDWI).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413455" cy="2651760"/>
          </a:xfrm>
          <a:prstGeom prst="roundRect">
            <a:avLst/>
          </a:prstGeom>
          <a:solidFill>
            <a:srgbClr val="0E231E"/>
          </a:solidFill>
          <a:ln w="12700">
            <a:solidFill>
              <a:srgbClr val="1A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74519"/>
            <a:ext cx="29562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10B981"/>
                </a:solidFill>
                <a:latin typeface="Segoe UI"/>
              </a:defRPr>
            </a:pPr>
            <a:r>
              <a:t>30%</a:t>
            </a:r>
          </a:p>
          <a:p>
            <a:pPr>
              <a:spcAft>
                <a:spcPts val="8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АГРО-МАРКЕТИНГ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Проведение демонстрационных полевых дней для агрономов и подключение первых 20 коммерческих фермерских хозяйств на юге Казахстана к поливному сезону 2027.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26280"/>
            <a:ext cx="10728655" cy="1691640"/>
          </a:xfrm>
          <a:prstGeom prst="roundRect">
            <a:avLst/>
          </a:prstGeom>
          <a:solidFill>
            <a:srgbClr val="1230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101800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  <a:latin typeface="Segoe UI"/>
              </a:defRPr>
            </a:pPr>
            <a:r>
              <a:t>ЦЕЛЕВЫЕ ПАРТНЁРЫ И ЗАПРОС К КОНКУРСУ IDEA MINERS: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• Мы ищем прямые контакты с Сельскохозяйственными производственными кооперативами (СПК), крестьянскими хозяйствами и Ассоциациями водопользователей (АВП) Туркестанской, Жамбылской и Кызылординской областей.</a:t>
            </a:r>
            <a:br/>
            <a:r>
              <a:t>• Цель: проведение совместных полевых пилотных испытаний летом 2026 года для доказательства сокращения расходов на воду и электроэнергию.</a:t>
            </a:r>
            <a:br/>
            <a:r>
              <a:t>• Контакты: info@aquaai.kz  |  github.com/SalaAkh/AquaAI  |  Астана / Алматы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