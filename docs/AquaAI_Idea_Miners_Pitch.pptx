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КонвейерКонтроль. Датчики и приложение, которые предупреждают механика шахты о поломке конвейерной ленты за 3–5 дней до аварии. Караганда, @konveyer_control, https://example.kz.</a:t>
            </a:r>
          </a:p>
          <a:p>
            <a:r>
              <a:t>Тайминг: 20 секунд (всего питч 5 минут).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Главный механик угольной шахты узнаёт о порыве конвейерной ленты, когда она уже встала. Час простоя — это недобытый уголь на 2–4 млн ₸. На крупной шахте такое случается 1–2 раза в месяц. Сейчас ленту раз в смену осматривают обходчики, и внутренний износ они не видят.</a:t>
            </a:r>
          </a:p>
          <a:p>
            <a:r>
              <a:t>Тайминг: 40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Ставим на конвейер датчики вибрации и температуры, данные уходят в облако. Модель сравнивает показания с историей поломок и присылает механику в Telegram: какой участок, что сломается и примерно когда. Механик меняет деталь в плановый простой, а не в аварийный. На пилоте модель предсказала 7 поломок из 9.</a:t>
            </a:r>
          </a:p>
          <a:p>
            <a:r>
              <a:t>Тайминг: 40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В Карагандинской области около 30 шахт и разрезов, в Казахстане — больше 150 горнодобывающих предприятий с конвейерами. В среднем 20 конвейеров на предприятие × 40 000 ₸ в месяц ≈ 1,4 млрд ₸ в год только в Казахстане. Следующий шаг — Узбекистан и Россия: там такое же оборудование.</a:t>
            </a:r>
          </a:p>
          <a:p>
            <a:r>
              <a:t>Тайминг: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Подписка — 40 000 ₸ в месяц за один конвейер, оплата раз в квартал. Датчики даём в аренду, их стоимость входит в подписку. Установка — разово 150 000 ₸ на предприятие.</a:t>
            </a:r>
          </a:p>
          <a:p>
            <a:r>
              <a:t>Тайминг: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MVP 4 месяца работает на 6 конвейерах одного разреза в Карагандинской области, пилот бесплатный. Предсказали 7 поломок из 9 и сэкономили клиенту около 30 часов простоя. Подписано письмо о намерениях: платное внедрение на 20 конвейерах с января. Выручки пока нет.</a:t>
            </a:r>
          </a:p>
          <a:p>
            <a:r>
              <a:t>Тайминг: 40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Вы — 40 000 ₸ в месяц за конвейер; ключевое отличие: прогноз за 3–5 дней и сообщение в Telegram; слабое место: пока 6 конвейеров и нет истории на других типах лент. Конкурент 1 (зарубежная система мониторинга) — от 200 000 ₸ в месяц; отличие: широкий набор датчиков; слабое место: внедрение полгода, нет поддержки на русском. Конкурент 2 (обходчики и плановый осмотр) — входит в зарплату; отличие: привычный процесс; слабое место: не видят внутренний износ.</a:t>
            </a:r>
          </a:p>
          <a:p>
            <a:r>
              <a:t>Тайминг: 40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Данияр — CEO, 6 лет главным механиком на разрезе, знает клиента изнутри. Алия — CTO, 5 лет в разработке промышленных IoT-систем. Ерлан — ML-инженер, делал модели предиктивного обслуживания для оборудования. Вместе довели MVP до пилота за 4 месяца.</a:t>
            </a:r>
          </a:p>
          <a:p>
            <a:r>
              <a:t>Тайминг: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(вымышленный стартап): Ищем 25 млн ₸ на 12 месяцев: 40% — датчики и производство 20 комплектов, 35% — команда (ML-инженер, инженер по внедрению), 25% — продажи. Нужен технический директор шахты или обогатительной фабрики с 10 и больше конвейерами для платного пилота и партнёр-интегратор горного оборудования.</a:t>
            </a:r>
          </a:p>
          <a:p>
            <a:r>
              <a:t>Тайминг: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1. Название и одна фраза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>
            <a:pPr>
              <a:spcAft>
                <a:spcPts val="12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AquaAI (АкваАй)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Суть стартапа (One-Liner): </a:t>
            </a:r>
            <a:r>
              <a:rPr sz="1400">
                <a:solidFill>
                  <a:srgbClr val="0F172A"/>
                </a:solidFill>
                <a:latin typeface="Segoe UI"/>
              </a:rPr>
              <a:t>Цифровая платформа точного управления орошением для фермеров Центральной Азии на основе международного гидрологического стандарта FAO-56 и объяснимого ИИ (Gemini).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Миссия: </a:t>
            </a:r>
            <a:r>
              <a:rPr sz="1400">
                <a:solidFill>
                  <a:srgbClr val="0F172A"/>
                </a:solidFill>
                <a:latin typeface="Segoe UI"/>
              </a:rPr>
              <a:t>Превратить дефицит поливной воды в управляемый экономический актив фермера, снизить потери воды на 20–35% и защитить экосистему региона.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География и локация: </a:t>
            </a:r>
            <a:r>
              <a:rPr sz="1400">
                <a:solidFill>
                  <a:srgbClr val="0F172A"/>
                </a:solidFill>
                <a:latin typeface="Segoe UI"/>
              </a:rPr>
              <a:t>Казахстан (г. Алматы / Туркестанская, Кызылординская, Жамбылская и Алматинская области).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Стадия и доступность: </a:t>
            </a:r>
            <a:r>
              <a:rPr sz="1400">
                <a:solidFill>
                  <a:srgbClr val="0F172A"/>
                </a:solidFill>
                <a:latin typeface="Segoe UI"/>
              </a:rPr>
              <a:t>Полнофункциональный, стабильный MVP готов к тестированию в браузере (на русском и казахском языках).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Контакты и демо: </a:t>
            </a:r>
            <a:r>
              <a:rPr sz="1400">
                <a:solidFill>
                  <a:srgbClr val="0F172A"/>
                </a:solidFill>
                <a:latin typeface="Segoe UI"/>
              </a:rPr>
              <a:t>GitHub: github.com/SalaAkh/AquaAI  |  Demo Live: aqua-ai-demo.loca.lt  |  info@aquaai.kz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2. Проблема: Водный дефицит и неконтролируемые потери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/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Кто страдает: </a:t>
            </a:r>
            <a:r>
              <a:rPr sz="1400">
                <a:solidFill>
                  <a:srgbClr val="0F172A"/>
                </a:solidFill>
                <a:latin typeface="Segoe UI"/>
              </a:rPr>
              <a:t>Более 40 000 малых и средних крестьянских хозяйств (20–500 га) орошаемого юга Казахстана (кукуруза, хлопок, рис, овощи, сады) в условиях прогрессирующего маловодья рек Сырдарья и Или.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В чём проблема: </a:t>
            </a:r>
            <a:r>
              <a:rPr sz="1400">
                <a:solidFill>
                  <a:srgbClr val="0F172A"/>
                </a:solidFill>
                <a:latin typeface="Segoe UI"/>
              </a:rPr>
              <a:t>80–85% забора пресной воды в регионе уходит на сельское хозяйство. До 40% воды теряется впустую из-за затопления полей «на глаз», фильтрации в земляных арыках и полуденного испарения в зной.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Как решают сейчас: </a:t>
            </a:r>
            <a:r>
              <a:rPr sz="1400">
                <a:solidFill>
                  <a:srgbClr val="0F172A"/>
                </a:solidFill>
                <a:latin typeface="Segoe UI"/>
              </a:rPr>
              <a:t>Поливают вслепую по графику подачи воды из канала или интуиции поливальщика, без знания научно обоснованной суточной потребности культур в воде (ETc).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Сколько это стоит фермеру: </a:t>
            </a:r>
            <a:r>
              <a:rPr sz="1400">
                <a:solidFill>
                  <a:srgbClr val="0F172A"/>
                </a:solidFill>
                <a:latin typeface="Segoe UI"/>
              </a:rPr>
              <a:t>Переплата от 1.5 до 3 млн ₸ за сезон за электроэнергию/дизель для холостой работы насосов, а также риски потери до 25–30% урожая из-за водного стресса или заболачивания/засоления.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Почему не подходят аналоги: </a:t>
            </a:r>
            <a:r>
              <a:rPr sz="1400">
                <a:solidFill>
                  <a:srgbClr val="0F172A"/>
                </a:solidFill>
                <a:latin typeface="Segoe UI"/>
              </a:rPr>
              <a:t>Зарубежные системы (CropX, FieldNET) стоят от $3,000, требуют обязательной покупки дорогих импортных датчиков, не поддерживают казахский язык и не адаптированы к бассейнам Центральной Азии.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3. Решение: Интеллектуальный агрономический расчёт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/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Что делает продукт: </a:t>
            </a:r>
            <a:r>
              <a:rPr sz="1400">
                <a:solidFill>
                  <a:srgbClr val="0F172A"/>
                </a:solidFill>
                <a:latin typeface="Segoe UI"/>
              </a:rPr>
              <a:t>AquaAI рассчитывает точную суточную потребность поля в поливе за 30 секунд по координатам, культуре и типу почвы без обязательной покупки оборудования на старте.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Математическое ядро FAO-56: </a:t>
            </a:r>
            <a:r>
              <a:rPr sz="1400">
                <a:solidFill>
                  <a:srgbClr val="0F172A"/>
                </a:solidFill>
                <a:latin typeface="Segoe UI"/>
              </a:rPr>
              <a:t>Расчёт эталонной и культурной эвапотранспирации (ETc = ET0 × Kc), эффективных осадков и КПД оросительной сети по стандарту Продовольственной и сельскохозяйственной организации ООН.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Оптимальные окна полива: </a:t>
            </a:r>
            <a:r>
              <a:rPr sz="1400">
                <a:solidFill>
                  <a:srgbClr val="0F172A"/>
                </a:solidFill>
                <a:latin typeface="Segoe UI"/>
              </a:rPr>
              <a:t>Рекомендация запуска полива в прохладные утренние (05:00–09:00) и ночные (19:00–22:00) часы, что снижает непродуктивное испарение воды на 20–25%.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Объяснимый ИИ (Google Gemini): </a:t>
            </a:r>
            <a:r>
              <a:rPr sz="1400">
                <a:solidFill>
                  <a:srgbClr val="0F172A"/>
                </a:solidFill>
                <a:latin typeface="Segoe UI"/>
              </a:rPr>
              <a:t>Разъяснение расчётов на казахском, русском и английском языках с опорой строго на гидрологические цифры (без галлюцинаций и выдуманных данных).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Учёт фактического водопотребления: </a:t>
            </a:r>
            <a:r>
              <a:rPr sz="1400">
                <a:solidFill>
                  <a:srgbClr val="0F172A"/>
                </a:solidFill>
                <a:latin typeface="Segoe UI"/>
              </a:rPr>
              <a:t>Модуль Water Usage Tracking с 3 режимами (по счётчику, по производительности насоса м³/ч × часы, по талону канала) и сравнением «план vs факт».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4. Рынок: Потенциал орошаемых земель Центральной Азии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/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TAM (Общий объём целевого рынка): </a:t>
            </a:r>
            <a:r>
              <a:rPr sz="1400">
                <a:solidFill>
                  <a:srgbClr val="0F172A"/>
                </a:solidFill>
                <a:latin typeface="Segoe UI"/>
              </a:rPr>
              <a:t>8.5 млн га орошаемых земель в Центральной Азии (Казахстан, Узбекистан, Кыргызстан, Таджикистан). При тарифе $1.50/га потенциальный объём рынка специализированного софта водоучёта составляет $12.75M в год (с учётом датчиков и консалтинга — свыше $100M).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SAM (Доступный рынок Казахстана): </a:t>
            </a:r>
            <a:r>
              <a:rPr sz="1400">
                <a:solidFill>
                  <a:srgbClr val="0F172A"/>
                </a:solidFill>
                <a:latin typeface="Segoe UI"/>
              </a:rPr>
              <a:t>1.8 млн га орошаемых площадей в Республике Казахстан (~$2.7M ежегодного софтверного рынка подписки).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SOM (Достижимый рынок на первые 2 года): </a:t>
            </a:r>
            <a:r>
              <a:rPr sz="1400">
                <a:solidFill>
                  <a:srgbClr val="0F172A"/>
                </a:solidFill>
                <a:latin typeface="Segoe UI"/>
              </a:rPr>
              <a:t>50 000 га в Туркестанской, Жамбылской и Кызылординской областях. Ожидаемая выручка (ARR): $75 000 (~37.5 млн ₸).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Сколько платит один клиент: </a:t>
            </a:r>
            <a:r>
              <a:rPr sz="1400">
                <a:solidFill>
                  <a:srgbClr val="0F172A"/>
                </a:solidFill>
                <a:latin typeface="Segoe UI"/>
              </a:rPr>
              <a:t>В среднем $1.50 / га (~750 ₸ / га) за поливной сезон. Среднее фермерское хозяйство площадью 100 га платит всего 75 000 ₸ за сезон.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Расчёт объёма рынка (SOM): </a:t>
            </a:r>
            <a:r>
              <a:rPr sz="1400">
                <a:solidFill>
                  <a:srgbClr val="0F172A"/>
                </a:solidFill>
                <a:latin typeface="Segoe UI"/>
              </a:rPr>
              <a:t>50 000 га × $1.50 / га в сезон = $75 000 (~37.5 млн тенге) ежегодной выручки.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5. Бизнес-модель: Сезонная B2B SaaS-подписка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/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Кто платит: </a:t>
            </a:r>
            <a:r>
              <a:rPr sz="1400">
                <a:solidFill>
                  <a:srgbClr val="0F172A"/>
                </a:solidFill>
                <a:latin typeface="Segoe UI"/>
              </a:rPr>
              <a:t>Крестьянские и фермерские хозяйства (КХ/ФХ), агрохолдинги, сельскохозяйственные производственные кооперативы (СПК) и ассоциации водопользователей (АВП).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Тариф 1 — Freemium (0 ₸): </a:t>
            </a:r>
            <a:r>
              <a:rPr sz="1400">
                <a:solidFill>
                  <a:srgbClr val="0F172A"/>
                </a:solidFill>
                <a:latin typeface="Segoe UI"/>
              </a:rPr>
              <a:t>До 2 полей (до 50 га) — базовый расчёт FAO-56 на 7 дней, прогноз Open-Meteo, журнал расхода воды. Инструмент массовой виральной лидогенерации.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Тариф 2 — Про ($1.50 / га в сезон, ~750 ₸/га): </a:t>
            </a:r>
            <a:r>
              <a:rPr sz="1400">
                <a:solidFill>
                  <a:srgbClr val="0F172A"/>
                </a:solidFill>
                <a:latin typeface="Segoe UI"/>
              </a:rPr>
              <a:t>Неограниченное число полей и насосов, детальная план-факт аналитика отклонений, ИИ-агроном Gemini на казахском и русском, экспорт официальных PDF/CSV отчётов, калькулятор энергозатрат.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Тариф 3 — Корпоративный ($500–$1,500 в год): </a:t>
            </a:r>
            <a:r>
              <a:rPr sz="1400">
                <a:solidFill>
                  <a:srgbClr val="0F172A"/>
                </a:solidFill>
                <a:latin typeface="Segoe UI"/>
              </a:rPr>
              <a:t>Для крупных хозяйств и кооперативов: многопользовательский доступ (агроном, бригадир, бухгалтер), выгрузка для госсубсидий и интеграция с расходомерами.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Регулярность платежей: </a:t>
            </a:r>
            <a:r>
              <a:rPr sz="1400">
                <a:solidFill>
                  <a:srgbClr val="0F172A"/>
                </a:solidFill>
                <a:latin typeface="Segoe UI"/>
              </a:rPr>
              <a:t>Ежегодная сезонная подписка с возобновлением весной перед началом активного вегетационного полива (апрель-май). Окупаемость для фермера наступает за счёт предотвращения 2–3 лишних включений насоса.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6. Трекшн: Готовый MVP и инженерная верификация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/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Что сделано (Готовый рабочий MVP): </a:t>
            </a:r>
            <a:r>
              <a:rPr sz="1400">
                <a:solidFill>
                  <a:srgbClr val="0F172A"/>
                </a:solidFill>
                <a:latin typeface="Segoe UI"/>
              </a:rPr>
              <a:t>Разработана полнофункциональная платформа на Next.js 16, React 19, TypeScript, интегрированная с API Open-Meteo, расчётным движком FAO-56 и Google Gemini AI.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Надёжная база данных и безопасность: </a:t>
            </a:r>
            <a:r>
              <a:rPr sz="1400">
                <a:solidFill>
                  <a:srgbClr val="0F172A"/>
                </a:solidFill>
                <a:latin typeface="Segoe UI"/>
              </a:rPr>
              <a:t>Облачная СУБД Supabase PostgreSQL с Row Level Security (RLS) на 7 таблицах + автономный отказоустойчивый Demo-режим с локальной памятью.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Качество кода (100% Green CI): </a:t>
            </a:r>
            <a:r>
              <a:rPr sz="1400">
                <a:solidFill>
                  <a:srgbClr val="0F172A"/>
                </a:solidFill>
                <a:latin typeface="Segoe UI"/>
              </a:rPr>
              <a:t>Все 14 юнит-тестов FAO-56, 7 интеграционных тестов и 10-шаговый E2E-сценарий фермера успешно проходят в автоматическом GitHub Actions CI.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Полноценный учёт расхода воды: </a:t>
            </a:r>
            <a:r>
              <a:rPr sz="1400">
                <a:solidFill>
                  <a:srgbClr val="0F172A"/>
                </a:solidFill>
                <a:latin typeface="Segoe UI"/>
              </a:rPr>
              <a:t>Реализовано 3 метода фиксации (расходомер до/после, подача насоса × время, ручной талон) с редактированием, удалением и расчётом план-факт отклонений.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План пилота на сезон 2026: </a:t>
            </a:r>
            <a:r>
              <a:rPr sz="1400">
                <a:solidFill>
                  <a:srgbClr val="0F172A"/>
                </a:solidFill>
                <a:latin typeface="Segoe UI"/>
              </a:rPr>
              <a:t>Подготовка полевых испытаний с 3–5 фермерскими хозяйствами в Туркестанской и Кызылординской областях на площади 200–300 га для доказательства физической экономии воды.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7. Конкуренты: Почему клиент выберет AquaAI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63040"/>
            <a:ext cx="11094415" cy="731520"/>
          </a:xfrm>
        </p:spPr>
        <p:txBody>
          <a:bodyPr/>
          <a:lstStyle/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Сравнительный анализ решений по управлению орошением в Центральной Азии: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377440"/>
          <a:ext cx="1109441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Решение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Цена для фермера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Ключевое преимущество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Слабое место / Ограничение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AquaAI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$1.50 / га в сезон (~750 ₸)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Работает в браузере без датчиков, казахский язык, расчёт по насосам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Молодой бренд на стадии запуска пилотных испытаний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Зарубежные системы (CropX, FieldNET)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$3,000–$10,000 за комплект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Высокая точность при наличии дорогого оборудования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Недоступно малым фермерам, нет казахского языка, сложный монтаж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Традиционный арык («на глаз»)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 ₸ за софт (но миллионы за перелив)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Привычно фермерам, не требует обучения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Потери до 40% воды, переплаты за насосы, риск гибели урожая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8. Команда: Экспертиза для масштабирования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/>
          <a:p>
            <a:pPr>
              <a:spcAft>
                <a:spcPts val="10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Салават Ахметов — Founder &amp; Lead Full-Stack Architect: </a:t>
            </a:r>
            <a:r>
              <a:rPr sz="1400">
                <a:solidFill>
                  <a:srgbClr val="0F172A"/>
                </a:solidFill>
                <a:latin typeface="Segoe UI"/>
              </a:rPr>
              <a:t>Опыт в разработке высоконагруженных веб-сервисов (Next.js, TypeScript, PostgreSQL), архитектура масштабируемых систем, интеграция ИИ и облачных API. Полная реализация ядра платформы AquaAI.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Агрономический эксперт-консультант (AgriTech &amp; Irrigation): </a:t>
            </a:r>
            <a:r>
              <a:rPr sz="1400">
                <a:solidFill>
                  <a:srgbClr val="0F172A"/>
                </a:solidFill>
                <a:latin typeface="Segoe UI"/>
              </a:rPr>
              <a:t>Экспертиза в почвоведении и прикладной гидрологии орошаемого земледелия Казахстана, практический опыт адаптации математических норм FAO-56 под условия южных областей.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Инженер по насосному оборудованию и телеметрии: </a:t>
            </a:r>
            <a:r>
              <a:rPr sz="1400">
                <a:solidFill>
                  <a:srgbClr val="0F172A"/>
                </a:solidFill>
                <a:latin typeface="Segoe UI"/>
              </a:rPr>
              <a:t>Специализация на подборе и эксплуатации глубинных и поверхностных насосных агрегатов, гидравлических расчётах и капельном орошении.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Менторы и отраслевые советники: </a:t>
            </a:r>
            <a:r>
              <a:rPr sz="1400">
                <a:solidFill>
                  <a:srgbClr val="0F172A"/>
                </a:solidFill>
                <a:latin typeface="Segoe UI"/>
              </a:rPr>
              <a:t>Поддержка экспертов водного хозяйства и предпринимателей клуба Parasat для выстраивания партнёрств с агрокооперативами.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1005840"/>
          </a:xfrm>
        </p:spPr>
        <p:txBody>
          <a:bodyPr/>
          <a:lstStyle/>
          <a:p>
            <a:pPr>
              <a:defRPr sz="2600" b="1">
                <a:solidFill>
                  <a:srgbClr val="0F766E"/>
                </a:solidFill>
                <a:latin typeface="Segoe UI"/>
              </a:defRPr>
            </a:pPr>
            <a:r>
              <a:t>9. Запрос: Инвестиции и партнёрства для пилота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/>
          <a:p>
            <a:pPr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Цель на конкурсе IDEA MINERS 2026: </a:t>
            </a:r>
            <a:r>
              <a:rPr sz="1400">
                <a:solidFill>
                  <a:srgbClr val="0F172A"/>
                </a:solidFill>
                <a:latin typeface="Segoe UI"/>
              </a:rPr>
              <a:t>Привлечение грантового финансирования, менторской поддержки и отраслевых связей для проведения масштабного полевого пилота летом 2026 года.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Segoe UI"/>
              </a:rPr>
              <a:t>Структура расходования средств (100%): </a:t>
            </a:r>
            <a:r>
              <a:rPr sz="1400">
                <a:solidFill>
                  <a:srgbClr val="0F172A"/>
                </a:solidFill>
                <a:latin typeface="Segoe UI"/>
              </a:rPr>
              <a:t>Распределение бюджета гранта по ключевым статьям развития стартапа: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Segoe UI"/>
              </a:rPr>
              <a:t>  • 40% — Полевые пилотные испытания: </a:t>
            </a:r>
            <a:r>
              <a:rPr sz="1400">
                <a:solidFill>
                  <a:srgbClr val="0F172A"/>
                </a:solidFill>
                <a:latin typeface="Segoe UI"/>
              </a:rPr>
              <a:t>Закупка контрольных поверенных расходомеров для оборудования 3–5 пилотных полей в Туркестанской и Кызылординской областях для сбора эталонных данных.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Segoe UI"/>
              </a:rPr>
              <a:t>  • 30% — Развитие продукта и мобильная версия: </a:t>
            </a:r>
            <a:r>
              <a:rPr sz="1400">
                <a:solidFill>
                  <a:srgbClr val="0F172A"/>
                </a:solidFill>
                <a:latin typeface="Segoe UI"/>
              </a:rPr>
              <a:t>Создание офлайн PWA-клиента для работы поливальщиков без интернета и интеграция спутниковых снимков Sentinel-2.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Segoe UI"/>
              </a:rPr>
              <a:t>  • 30% — Выход на рынок и агро-маркетинг: </a:t>
            </a:r>
            <a:r>
              <a:rPr sz="1400">
                <a:solidFill>
                  <a:srgbClr val="0F172A"/>
                </a:solidFill>
                <a:latin typeface="Segoe UI"/>
              </a:rPr>
              <a:t>Проведение демонстрационных полевых дней для агрономов и подключение первых 20 коммерческих хозяйств к сезону 2027.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Segoe UI"/>
              </a:rPr>
              <a:t>Партнёры, которые нам нужны: </a:t>
            </a:r>
            <a:r>
              <a:rPr sz="1400">
                <a:solidFill>
                  <a:srgbClr val="0F172A"/>
                </a:solidFill>
                <a:latin typeface="Segoe UI"/>
              </a:rPr>
              <a:t>Сельхозкооперативы (СПК), крестьянские хозяйства и Ассоциации водопользователей юга Казахстана для совместной верификации эффективности.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